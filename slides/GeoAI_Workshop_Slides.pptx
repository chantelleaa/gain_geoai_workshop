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E10A212-05F2-42C1-9DCF-3E25BD139AB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44D5A4-3FA7-4424-9FDB-F69568E49CE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246334-541C-46AC-8050-652834CABF8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BC2E2C-3A22-4102-AA61-6C60C777219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E1DEEE-21CE-4C31-A4FF-930730EED67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1F466A-24B9-4F1B-857A-0B9EB0A3DBA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6D2BE6-C227-4D88-8D55-A7E00379951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EFE3C3-9642-474D-BBAB-F779E62CF68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1351440" y="1143000"/>
            <a:ext cx="6441120" cy="11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4620"/>
              </a:lnSpc>
              <a:spcAft>
                <a:spcPts val="1199"/>
              </a:spcAft>
              <a:tabLst>
                <a:tab algn="l" pos="0"/>
              </a:tabLst>
            </a:pPr>
            <a:r>
              <a:rPr b="1" lang="en-US" sz="4200" spc="-1" strike="noStrike">
                <a:solidFill>
                  <a:srgbClr val="c85a3c"/>
                </a:solidFill>
                <a:latin typeface="Georgia"/>
                <a:ea typeface="Georgia"/>
              </a:rPr>
              <a:t>Mapping Rice Affordability in Ghana Using GeoAI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1371600" y="3200400"/>
            <a:ext cx="644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520"/>
              </a:lnSpc>
              <a:spcAft>
                <a:spcPts val="1800"/>
              </a:spcAft>
              <a:tabLst>
                <a:tab algn="l" pos="0"/>
              </a:tabLst>
            </a:pPr>
            <a:r>
              <a:rPr b="0" lang="en-US" sz="1800" spc="-1" strike="noStrike">
                <a:solidFill>
                  <a:srgbClr val="2c6e6a"/>
                </a:solidFill>
                <a:latin typeface="Arial"/>
                <a:ea typeface="Arial"/>
              </a:rPr>
              <a:t>GAIN Monthly Dialogue Session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1371600" y="3657600"/>
            <a:ext cx="644112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91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6b5f52"/>
                </a:solidFill>
                <a:latin typeface="Arial"/>
                <a:ea typeface="Arial"/>
              </a:rPr>
              <a:t>March 2026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1371600" y="4114800"/>
            <a:ext cx="644112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681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b5f52"/>
                </a:solidFill>
                <a:latin typeface="Arial"/>
                <a:ea typeface="Arial"/>
              </a:rPr>
              <a:t>Created by Chantelle Amoako-Atta, AI/ML Engineer and PhD Researcher (Decarb-AI, UCD)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/>
          <p:cNvSpPr/>
          <p:nvPr/>
        </p:nvSpPr>
        <p:spPr>
          <a:xfrm>
            <a:off x="285840" y="228600"/>
            <a:ext cx="69462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999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c85a3c"/>
                </a:solidFill>
                <a:latin typeface="Georgia"/>
                <a:ea typeface="Georgia"/>
              </a:rPr>
              <a:t>Why Rice Affordability Matters in Ghana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 1"/>
          <p:cNvSpPr/>
          <p:nvPr/>
        </p:nvSpPr>
        <p:spPr>
          <a:xfrm>
            <a:off x="387360" y="1182240"/>
            <a:ext cx="8381520" cy="811080"/>
          </a:xfrm>
          <a:prstGeom prst="roundRect">
            <a:avLst>
              <a:gd name="adj" fmla="val 5635"/>
            </a:avLst>
          </a:prstGeom>
          <a:solidFill>
            <a:srgbClr val="2c6e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Text 2"/>
          <p:cNvSpPr/>
          <p:nvPr/>
        </p:nvSpPr>
        <p:spPr>
          <a:xfrm>
            <a:off x="571680" y="1295640"/>
            <a:ext cx="816084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996"/>
              </a:lnSpc>
              <a:tabLst>
                <a:tab algn="l" pos="0"/>
              </a:tabLst>
            </a:pPr>
            <a:r>
              <a:rPr b="1" lang="en-US" sz="1430" spc="-1" strike="noStrike">
                <a:solidFill>
                  <a:srgbClr val="f5f5f5"/>
                </a:solidFill>
                <a:latin typeface="Arial"/>
                <a:ea typeface="Arial"/>
              </a:rPr>
              <a:t>Rice is a staple food in Ghana. Prices vary across markets and regions, affecting daily living costs for millions of households.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3"/>
          <p:cNvSpPr/>
          <p:nvPr/>
        </p:nvSpPr>
        <p:spPr>
          <a:xfrm>
            <a:off x="380880" y="2125800"/>
            <a:ext cx="2679120" cy="1056600"/>
          </a:xfrm>
          <a:prstGeom prst="roundRect">
            <a:avLst>
              <a:gd name="adj" fmla="val 4326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Shape 4"/>
          <p:cNvSpPr/>
          <p:nvPr/>
        </p:nvSpPr>
        <p:spPr>
          <a:xfrm>
            <a:off x="399960" y="2125800"/>
            <a:ext cx="360" cy="1056600"/>
          </a:xfrm>
          <a:prstGeom prst="line">
            <a:avLst/>
          </a:prstGeom>
          <a:ln w="38100">
            <a:solidFill>
              <a:srgbClr val="c85a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552600" y="2259360"/>
            <a:ext cx="242208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31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280" spc="-1" strike="noStrike">
                <a:solidFill>
                  <a:srgbClr val="c85a3c"/>
                </a:solidFill>
                <a:latin typeface="Georgia"/>
                <a:ea typeface="Georgia"/>
              </a:rPr>
              <a:t>Food Security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6"/>
          <p:cNvSpPr/>
          <p:nvPr/>
        </p:nvSpPr>
        <p:spPr>
          <a:xfrm>
            <a:off x="552600" y="2529720"/>
            <a:ext cx="242208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66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2a2520"/>
                </a:solidFill>
                <a:latin typeface="Arial"/>
                <a:ea typeface="Arial"/>
              </a:rPr>
              <a:t>Understanding spatial price patterns helps identify areas at risk and supports humanitarian planning.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7"/>
          <p:cNvSpPr/>
          <p:nvPr/>
        </p:nvSpPr>
        <p:spPr>
          <a:xfrm>
            <a:off x="3232080" y="2125800"/>
            <a:ext cx="2679120" cy="1056600"/>
          </a:xfrm>
          <a:prstGeom prst="roundRect">
            <a:avLst>
              <a:gd name="adj" fmla="val 4326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Shape 8"/>
          <p:cNvSpPr/>
          <p:nvPr/>
        </p:nvSpPr>
        <p:spPr>
          <a:xfrm>
            <a:off x="3250800" y="2125800"/>
            <a:ext cx="360" cy="1056600"/>
          </a:xfrm>
          <a:prstGeom prst="line">
            <a:avLst/>
          </a:prstGeom>
          <a:ln w="38100">
            <a:solidFill>
              <a:srgbClr val="e8a8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9"/>
          <p:cNvSpPr/>
          <p:nvPr/>
        </p:nvSpPr>
        <p:spPr>
          <a:xfrm>
            <a:off x="3403440" y="2259360"/>
            <a:ext cx="242208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31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280" spc="-1" strike="noStrike">
                <a:solidFill>
                  <a:srgbClr val="c85a3c"/>
                </a:solidFill>
                <a:latin typeface="Georgia"/>
                <a:ea typeface="Georgia"/>
              </a:rPr>
              <a:t>Policy Making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0"/>
          <p:cNvSpPr/>
          <p:nvPr/>
        </p:nvSpPr>
        <p:spPr>
          <a:xfrm>
            <a:off x="3403440" y="2529720"/>
            <a:ext cx="242208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66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2a2520"/>
                </a:solidFill>
                <a:latin typeface="Arial"/>
                <a:ea typeface="Arial"/>
              </a:rPr>
              <a:t>Data-driven insights inform decisions on subsidies, market interventions, and infrastructure development.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11"/>
          <p:cNvSpPr/>
          <p:nvPr/>
        </p:nvSpPr>
        <p:spPr>
          <a:xfrm>
            <a:off x="6102360" y="2125800"/>
            <a:ext cx="2679120" cy="1056600"/>
          </a:xfrm>
          <a:prstGeom prst="roundRect">
            <a:avLst>
              <a:gd name="adj" fmla="val 4326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Shape 12"/>
          <p:cNvSpPr/>
          <p:nvPr/>
        </p:nvSpPr>
        <p:spPr>
          <a:xfrm>
            <a:off x="6102000" y="2125800"/>
            <a:ext cx="360" cy="1056600"/>
          </a:xfrm>
          <a:prstGeom prst="line">
            <a:avLst/>
          </a:prstGeom>
          <a:ln w="38100">
            <a:solidFill>
              <a:srgbClr val="2c6e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3"/>
          <p:cNvSpPr/>
          <p:nvPr/>
        </p:nvSpPr>
        <p:spPr>
          <a:xfrm>
            <a:off x="6254640" y="2259360"/>
            <a:ext cx="242208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31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280" spc="-1" strike="noStrike">
                <a:solidFill>
                  <a:srgbClr val="c85a3c"/>
                </a:solidFill>
                <a:latin typeface="Georgia"/>
                <a:ea typeface="Georgia"/>
              </a:rPr>
              <a:t>Real-World Impact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4"/>
          <p:cNvSpPr/>
          <p:nvPr/>
        </p:nvSpPr>
        <p:spPr>
          <a:xfrm>
            <a:off x="6254640" y="2529720"/>
            <a:ext cx="242208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66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2a2520"/>
                </a:solidFill>
                <a:latin typeface="Arial"/>
                <a:ea typeface="Arial"/>
              </a:rPr>
              <a:t>Maps reveal where rice is expensive or affordable, guiding resource allocation and response efforts.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5"/>
          <p:cNvSpPr/>
          <p:nvPr/>
        </p:nvSpPr>
        <p:spPr>
          <a:xfrm>
            <a:off x="380880" y="4781520"/>
            <a:ext cx="854928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b5f52"/>
                </a:solidFill>
                <a:latin typeface="Arial"/>
                <a:ea typeface="Arial"/>
              </a:rPr>
              <a:t>Today we will use real market data to explore these patterns and build tools to query them.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285840" y="228600"/>
            <a:ext cx="82382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149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3150" spc="-1" strike="noStrike">
                <a:solidFill>
                  <a:srgbClr val="c85a3c"/>
                </a:solidFill>
                <a:latin typeface="Georgia"/>
                <a:ea typeface="Georgia"/>
              </a:rPr>
              <a:t>Our Data Source: The World Food Programme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380880" y="1600200"/>
            <a:ext cx="4076280" cy="2087640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9525">
            <a:solidFill>
              <a:srgbClr val="d4ca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Text 2"/>
          <p:cNvSpPr/>
          <p:nvPr/>
        </p:nvSpPr>
        <p:spPr>
          <a:xfrm>
            <a:off x="610560" y="1802160"/>
            <a:ext cx="19040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67"/>
              </a:lnSpc>
              <a:spcAft>
                <a:spcPts val="9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rgbClr val="2c6e6a"/>
                </a:solidFill>
                <a:latin typeface="Georgia"/>
                <a:ea typeface="Georgia"/>
              </a:rPr>
              <a:t>What is WFP?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3"/>
          <p:cNvSpPr/>
          <p:nvPr/>
        </p:nvSpPr>
        <p:spPr>
          <a:xfrm>
            <a:off x="554760" y="2057400"/>
            <a:ext cx="378864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87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130" spc="-1" strike="noStrike">
                <a:solidFill>
                  <a:srgbClr val="2a2520"/>
                </a:solidFill>
                <a:latin typeface="Arial"/>
                <a:ea typeface="Arial"/>
              </a:rPr>
              <a:t>The World Food Programme monitors food prices in markets across many countries to track food security conditions and market dynamics.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4"/>
          <p:cNvSpPr/>
          <p:nvPr/>
        </p:nvSpPr>
        <p:spPr>
          <a:xfrm>
            <a:off x="554760" y="2743200"/>
            <a:ext cx="378864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87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2a2520"/>
                </a:solidFill>
                <a:latin typeface="Arial"/>
                <a:ea typeface="Arial"/>
              </a:rPr>
              <a:t>Their data helps humanitarian organizations respond to crises, governments make informed policy decisions, and researchers understand food system patterns.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5"/>
          <p:cNvSpPr/>
          <p:nvPr/>
        </p:nvSpPr>
        <p:spPr>
          <a:xfrm>
            <a:off x="4686480" y="1047600"/>
            <a:ext cx="4076280" cy="2298960"/>
          </a:xfrm>
          <a:prstGeom prst="roundRect">
            <a:avLst>
              <a:gd name="adj" fmla="val 1988"/>
            </a:avLst>
          </a:prstGeom>
          <a:solidFill>
            <a:srgbClr val="e8a8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Text 6"/>
          <p:cNvSpPr/>
          <p:nvPr/>
        </p:nvSpPr>
        <p:spPr>
          <a:xfrm>
            <a:off x="4857840" y="1219320"/>
            <a:ext cx="3143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67"/>
              </a:lnSpc>
              <a:spcAft>
                <a:spcPts val="75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rgbClr val="2c2416"/>
                </a:solidFill>
                <a:latin typeface="Georgia"/>
                <a:ea typeface="Georgia"/>
              </a:rPr>
              <a:t>Publicly Accessible Data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4857840" y="1618200"/>
            <a:ext cx="3808080" cy="3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71"/>
              </a:lnSpc>
              <a:spcAft>
                <a:spcPts val="751"/>
              </a:spcAft>
              <a:tabLst>
                <a:tab algn="l" pos="0"/>
              </a:tabLst>
            </a:pPr>
            <a:r>
              <a:rPr b="0" lang="en-US" sz="1050" spc="-1" strike="noStrike">
                <a:solidFill>
                  <a:srgbClr val="2c2416"/>
                </a:solidFill>
                <a:latin typeface="Arial"/>
                <a:ea typeface="Arial"/>
              </a:rPr>
              <a:t>WFP data is available through the </a:t>
            </a:r>
            <a:r>
              <a:rPr b="1" lang="en-US" sz="1050" spc="-1" strike="noStrike">
                <a:solidFill>
                  <a:srgbClr val="2c2416"/>
                </a:solidFill>
                <a:latin typeface="Arial"/>
                <a:ea typeface="Arial"/>
              </a:rPr>
              <a:t>Humanitarian Data Exchange (HDX)</a:t>
            </a:r>
            <a:r>
              <a:rPr b="0" lang="en-US" sz="1050" spc="-1" strike="noStrike">
                <a:solidFill>
                  <a:srgbClr val="2c2416"/>
                </a:solidFill>
                <a:latin typeface="Arial"/>
                <a:ea typeface="Arial"/>
              </a:rPr>
              <a:t>, making it accessible for: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4857840" y="2057400"/>
            <a:ext cx="3733560" cy="11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0" tIns="0" bIns="0" anchor="t">
            <a:noAutofit/>
          </a:bodyPr>
          <a:p>
            <a:pPr marL="95400" indent="-95400" defTabSz="914400">
              <a:lnSpc>
                <a:spcPts val="2100"/>
              </a:lnSpc>
              <a:buClr>
                <a:srgbClr val="2c2416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2c2416"/>
                </a:solidFill>
                <a:latin typeface="Arial"/>
                <a:ea typeface="Arial"/>
              </a:rPr>
              <a:t>Policymakers and government agencies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95400" indent="-95400" defTabSz="914400">
              <a:lnSpc>
                <a:spcPts val="2100"/>
              </a:lnSpc>
              <a:buClr>
                <a:srgbClr val="2c2416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2c2416"/>
                </a:solidFill>
                <a:latin typeface="Arial"/>
                <a:ea typeface="Arial"/>
              </a:rPr>
              <a:t>NGOs and humanitarian organizations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95400" indent="-95400" defTabSz="914400">
              <a:lnSpc>
                <a:spcPts val="2100"/>
              </a:lnSpc>
              <a:buClr>
                <a:srgbClr val="2c2416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2c2416"/>
                </a:solidFill>
                <a:latin typeface="Arial"/>
                <a:ea typeface="Arial"/>
              </a:rPr>
              <a:t>Researchers and data scientists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95400" indent="-95400" defTabSz="914400">
              <a:lnSpc>
                <a:spcPts val="2100"/>
              </a:lnSpc>
              <a:buClr>
                <a:srgbClr val="2c2416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2c2416"/>
                </a:solidFill>
                <a:latin typeface="Arial"/>
                <a:ea typeface="Arial"/>
              </a:rPr>
              <a:t>Students and educators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9"/>
          <p:cNvSpPr/>
          <p:nvPr/>
        </p:nvSpPr>
        <p:spPr>
          <a:xfrm>
            <a:off x="4686480" y="3499560"/>
            <a:ext cx="4076280" cy="612720"/>
          </a:xfrm>
          <a:prstGeom prst="roundRect">
            <a:avLst>
              <a:gd name="adj" fmla="val 7456"/>
            </a:avLst>
          </a:prstGeom>
          <a:solidFill>
            <a:srgbClr val="ede8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Text 10"/>
          <p:cNvSpPr/>
          <p:nvPr/>
        </p:nvSpPr>
        <p:spPr>
          <a:xfrm>
            <a:off x="4819680" y="3632760"/>
            <a:ext cx="3885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66"/>
              </a:lnSpc>
              <a:tabLst>
                <a:tab algn="l" pos="0"/>
              </a:tabLst>
            </a:pPr>
            <a:r>
              <a:rPr b="0" i="1" lang="en-US" sz="980" spc="-1" strike="noStrike">
                <a:solidFill>
                  <a:srgbClr val="2a2520"/>
                </a:solidFill>
                <a:latin typeface="Arial"/>
                <a:ea typeface="Arial"/>
              </a:rPr>
              <a:t>Today we use WFP's Ghana market price data to explore rice affordability patterns across the country.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1"/>
          <p:cNvSpPr/>
          <p:nvPr/>
        </p:nvSpPr>
        <p:spPr>
          <a:xfrm>
            <a:off x="380880" y="4781520"/>
            <a:ext cx="854928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b5f52"/>
                </a:solidFill>
                <a:latin typeface="Arial"/>
                <a:ea typeface="Arial"/>
              </a:rPr>
              <a:t>Data source: WFP Ghana Market Food Prices, available at data.humdata.org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/>
          <p:cNvSpPr/>
          <p:nvPr/>
        </p:nvSpPr>
        <p:spPr>
          <a:xfrm>
            <a:off x="285840" y="228600"/>
            <a:ext cx="49158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149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3150" spc="-1" strike="noStrike">
                <a:solidFill>
                  <a:srgbClr val="c85a3c"/>
                </a:solidFill>
                <a:latin typeface="Georgia"/>
                <a:ea typeface="Georgia"/>
              </a:rPr>
              <a:t>What You Will Learn Today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380880" y="1371600"/>
            <a:ext cx="4095360" cy="639720"/>
          </a:xfrm>
          <a:prstGeom prst="roundRect">
            <a:avLst>
              <a:gd name="adj" fmla="val 7144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Shape 2"/>
          <p:cNvSpPr/>
          <p:nvPr/>
        </p:nvSpPr>
        <p:spPr>
          <a:xfrm>
            <a:off x="400320" y="1371600"/>
            <a:ext cx="360" cy="640080"/>
          </a:xfrm>
          <a:prstGeom prst="line">
            <a:avLst/>
          </a:prstGeom>
          <a:ln w="38100">
            <a:solidFill>
              <a:srgbClr val="c85a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3"/>
          <p:cNvSpPr/>
          <p:nvPr/>
        </p:nvSpPr>
        <p:spPr>
          <a:xfrm>
            <a:off x="571680" y="1505160"/>
            <a:ext cx="3827520" cy="3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71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c85a3c"/>
                </a:solidFill>
                <a:latin typeface="Arial"/>
                <a:ea typeface="Arial"/>
              </a:rPr>
              <a:t>1.</a:t>
            </a:r>
            <a:r>
              <a:rPr b="0" lang="en-US" sz="1050" spc="-1" strike="noStrike">
                <a:solidFill>
                  <a:srgbClr val="2a2520"/>
                </a:solidFill>
                <a:latin typeface="Arial"/>
                <a:ea typeface="Arial"/>
              </a:rPr>
              <a:t> Understand what GeoAI means in a practical Ghanaian context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4"/>
          <p:cNvSpPr/>
          <p:nvPr/>
        </p:nvSpPr>
        <p:spPr>
          <a:xfrm>
            <a:off x="380880" y="2126160"/>
            <a:ext cx="4095360" cy="452880"/>
          </a:xfrm>
          <a:prstGeom prst="roundRect">
            <a:avLst>
              <a:gd name="adj" fmla="val 1008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" name="Shape 5"/>
          <p:cNvSpPr/>
          <p:nvPr/>
        </p:nvSpPr>
        <p:spPr>
          <a:xfrm>
            <a:off x="399960" y="2125800"/>
            <a:ext cx="360" cy="453240"/>
          </a:xfrm>
          <a:prstGeom prst="line">
            <a:avLst/>
          </a:prstGeom>
          <a:ln w="38100">
            <a:solidFill>
              <a:srgbClr val="c85a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6"/>
          <p:cNvSpPr/>
          <p:nvPr/>
        </p:nvSpPr>
        <p:spPr>
          <a:xfrm>
            <a:off x="571680" y="2259360"/>
            <a:ext cx="382752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71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c85a3c"/>
                </a:solidFill>
                <a:latin typeface="Arial"/>
                <a:ea typeface="Arial"/>
              </a:rPr>
              <a:t>2.</a:t>
            </a:r>
            <a:r>
              <a:rPr b="0" lang="en-US" sz="1050" spc="-1" strike="noStrike">
                <a:solidFill>
                  <a:srgbClr val="2a2520"/>
                </a:solidFill>
                <a:latin typeface="Arial"/>
                <a:ea typeface="Arial"/>
              </a:rPr>
              <a:t> Load and explore real WFP food price 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7"/>
          <p:cNvSpPr/>
          <p:nvPr/>
        </p:nvSpPr>
        <p:spPr>
          <a:xfrm>
            <a:off x="380880" y="2693520"/>
            <a:ext cx="4095360" cy="452880"/>
          </a:xfrm>
          <a:prstGeom prst="roundRect">
            <a:avLst>
              <a:gd name="adj" fmla="val 1008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Shape 8"/>
          <p:cNvSpPr/>
          <p:nvPr/>
        </p:nvSpPr>
        <p:spPr>
          <a:xfrm>
            <a:off x="399960" y="2693520"/>
            <a:ext cx="360" cy="453240"/>
          </a:xfrm>
          <a:prstGeom prst="line">
            <a:avLst/>
          </a:prstGeom>
          <a:ln w="38100">
            <a:solidFill>
              <a:srgbClr val="c85a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9"/>
          <p:cNvSpPr/>
          <p:nvPr/>
        </p:nvSpPr>
        <p:spPr>
          <a:xfrm>
            <a:off x="571680" y="2827080"/>
            <a:ext cx="382752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71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c85a3c"/>
                </a:solidFill>
                <a:latin typeface="Arial"/>
                <a:ea typeface="Arial"/>
              </a:rPr>
              <a:t>3.</a:t>
            </a:r>
            <a:r>
              <a:rPr b="0" lang="en-US" sz="1050" spc="-1" strike="noStrike">
                <a:solidFill>
                  <a:srgbClr val="2a2520"/>
                </a:solidFill>
                <a:latin typeface="Arial"/>
                <a:ea typeface="Arial"/>
              </a:rPr>
              <a:t> Convert tabular market data into geospatial 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0"/>
          <p:cNvSpPr/>
          <p:nvPr/>
        </p:nvSpPr>
        <p:spPr>
          <a:xfrm>
            <a:off x="380880" y="3261240"/>
            <a:ext cx="4095360" cy="452880"/>
          </a:xfrm>
          <a:prstGeom prst="roundRect">
            <a:avLst>
              <a:gd name="adj" fmla="val 1008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Shape 11"/>
          <p:cNvSpPr/>
          <p:nvPr/>
        </p:nvSpPr>
        <p:spPr>
          <a:xfrm>
            <a:off x="399960" y="3261240"/>
            <a:ext cx="360" cy="453240"/>
          </a:xfrm>
          <a:prstGeom prst="line">
            <a:avLst/>
          </a:prstGeom>
          <a:ln w="38100">
            <a:solidFill>
              <a:srgbClr val="c85a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2"/>
          <p:cNvSpPr/>
          <p:nvPr/>
        </p:nvSpPr>
        <p:spPr>
          <a:xfrm>
            <a:off x="571680" y="3394800"/>
            <a:ext cx="382752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71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c85a3c"/>
                </a:solidFill>
                <a:latin typeface="Arial"/>
                <a:ea typeface="Arial"/>
              </a:rPr>
              <a:t>4.</a:t>
            </a:r>
            <a:r>
              <a:rPr b="0" lang="en-US" sz="1050" spc="-1" strike="noStrike">
                <a:solidFill>
                  <a:srgbClr val="2a2520"/>
                </a:solidFill>
                <a:latin typeface="Arial"/>
                <a:ea typeface="Arial"/>
              </a:rPr>
              <a:t> Use spatial joins to link observations to regions and districts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3"/>
          <p:cNvSpPr/>
          <p:nvPr/>
        </p:nvSpPr>
        <p:spPr>
          <a:xfrm>
            <a:off x="4667400" y="1371600"/>
            <a:ext cx="4095360" cy="452880"/>
          </a:xfrm>
          <a:prstGeom prst="roundRect">
            <a:avLst>
              <a:gd name="adj" fmla="val 1008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Shape 14"/>
          <p:cNvSpPr/>
          <p:nvPr/>
        </p:nvSpPr>
        <p:spPr>
          <a:xfrm>
            <a:off x="4686480" y="1371600"/>
            <a:ext cx="360" cy="453240"/>
          </a:xfrm>
          <a:prstGeom prst="line">
            <a:avLst/>
          </a:prstGeom>
          <a:ln w="38100">
            <a:solidFill>
              <a:srgbClr val="e8a8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15"/>
          <p:cNvSpPr/>
          <p:nvPr/>
        </p:nvSpPr>
        <p:spPr>
          <a:xfrm>
            <a:off x="4857840" y="1505160"/>
            <a:ext cx="382752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71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a847"/>
                </a:solidFill>
                <a:latin typeface="Arial"/>
                <a:ea typeface="Arial"/>
              </a:rPr>
              <a:t>5.</a:t>
            </a:r>
            <a:r>
              <a:rPr b="0" lang="en-US" sz="1050" spc="-1" strike="noStrike">
                <a:solidFill>
                  <a:srgbClr val="2a2520"/>
                </a:solidFill>
                <a:latin typeface="Arial"/>
                <a:ea typeface="Arial"/>
              </a:rPr>
              <a:t> Create choropleth maps showing spatial price patterns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16"/>
          <p:cNvSpPr/>
          <p:nvPr/>
        </p:nvSpPr>
        <p:spPr>
          <a:xfrm>
            <a:off x="4667400" y="1939320"/>
            <a:ext cx="4095360" cy="452880"/>
          </a:xfrm>
          <a:prstGeom prst="roundRect">
            <a:avLst>
              <a:gd name="adj" fmla="val 1008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Shape 17"/>
          <p:cNvSpPr/>
          <p:nvPr/>
        </p:nvSpPr>
        <p:spPr>
          <a:xfrm>
            <a:off x="4686120" y="1939320"/>
            <a:ext cx="360" cy="453240"/>
          </a:xfrm>
          <a:prstGeom prst="line">
            <a:avLst/>
          </a:prstGeom>
          <a:ln w="38100">
            <a:solidFill>
              <a:srgbClr val="e8a8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18"/>
          <p:cNvSpPr/>
          <p:nvPr/>
        </p:nvSpPr>
        <p:spPr>
          <a:xfrm>
            <a:off x="4857840" y="2072880"/>
            <a:ext cx="382752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71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a847"/>
                </a:solidFill>
                <a:latin typeface="Arial"/>
                <a:ea typeface="Arial"/>
              </a:rPr>
              <a:t>6.</a:t>
            </a:r>
            <a:r>
              <a:rPr b="0" lang="en-US" sz="1050" spc="-1" strike="noStrike">
                <a:solidFill>
                  <a:srgbClr val="2a2520"/>
                </a:solidFill>
                <a:latin typeface="Arial"/>
                <a:ea typeface="Arial"/>
              </a:rPr>
              <a:t> Identify data gaps and understand their implications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19"/>
          <p:cNvSpPr/>
          <p:nvPr/>
        </p:nvSpPr>
        <p:spPr>
          <a:xfrm>
            <a:off x="4667400" y="2507040"/>
            <a:ext cx="4095360" cy="452880"/>
          </a:xfrm>
          <a:prstGeom prst="roundRect">
            <a:avLst>
              <a:gd name="adj" fmla="val 1008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Shape 20"/>
          <p:cNvSpPr/>
          <p:nvPr/>
        </p:nvSpPr>
        <p:spPr>
          <a:xfrm>
            <a:off x="4686120" y="2506680"/>
            <a:ext cx="360" cy="453600"/>
          </a:xfrm>
          <a:prstGeom prst="line">
            <a:avLst/>
          </a:prstGeom>
          <a:ln w="38100">
            <a:solidFill>
              <a:srgbClr val="e8a8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21"/>
          <p:cNvSpPr/>
          <p:nvPr/>
        </p:nvSpPr>
        <p:spPr>
          <a:xfrm>
            <a:off x="4857840" y="2640240"/>
            <a:ext cx="382752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71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a847"/>
                </a:solidFill>
                <a:latin typeface="Arial"/>
                <a:ea typeface="Arial"/>
              </a:rPr>
              <a:t>7.</a:t>
            </a:r>
            <a:r>
              <a:rPr b="0" lang="en-US" sz="1050" spc="-1" strike="noStrike">
                <a:solidFill>
                  <a:srgbClr val="2a2520"/>
                </a:solidFill>
                <a:latin typeface="Arial"/>
                <a:ea typeface="Arial"/>
              </a:rPr>
              <a:t> Build a natural language interface using an LLM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22"/>
          <p:cNvSpPr/>
          <p:nvPr/>
        </p:nvSpPr>
        <p:spPr>
          <a:xfrm>
            <a:off x="4667400" y="3074760"/>
            <a:ext cx="4095360" cy="639720"/>
          </a:xfrm>
          <a:prstGeom prst="roundRect">
            <a:avLst>
              <a:gd name="adj" fmla="val 7144"/>
            </a:avLst>
          </a:prstGeom>
          <a:solidFill>
            <a:srgbClr val="2c6e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Text 23"/>
          <p:cNvSpPr/>
          <p:nvPr/>
        </p:nvSpPr>
        <p:spPr>
          <a:xfrm>
            <a:off x="4819680" y="3207960"/>
            <a:ext cx="3866400" cy="3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71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5f5f5"/>
                </a:solidFill>
                <a:latin typeface="Arial"/>
                <a:ea typeface="Arial"/>
              </a:rPr>
              <a:t>By the end: You will have created maps and a queryable system for rice affordability insights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24"/>
          <p:cNvSpPr/>
          <p:nvPr/>
        </p:nvSpPr>
        <p:spPr>
          <a:xfrm>
            <a:off x="380880" y="4781520"/>
            <a:ext cx="854928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b5f52"/>
                </a:solidFill>
                <a:latin typeface="Arial"/>
                <a:ea typeface="Arial"/>
              </a:rPr>
              <a:t>This is a hands-on session. You will write code, create visualizations, and build tools.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/>
          <p:cNvSpPr/>
          <p:nvPr/>
        </p:nvSpPr>
        <p:spPr>
          <a:xfrm>
            <a:off x="285840" y="228600"/>
            <a:ext cx="43812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149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3150" spc="-1" strike="noStrike">
                <a:solidFill>
                  <a:srgbClr val="c85a3c"/>
                </a:solidFill>
                <a:latin typeface="Georgia"/>
                <a:ea typeface="Georgia"/>
              </a:rPr>
              <a:t>What is GeoAI?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" name="Image 0" descr="/tmp/rasterized-gradient-776fbd26.png"/>
          <p:cNvPicPr/>
          <p:nvPr/>
        </p:nvPicPr>
        <p:blipFill>
          <a:blip r:embed="rId1"/>
          <a:stretch/>
        </p:blipFill>
        <p:spPr>
          <a:xfrm>
            <a:off x="380880" y="1636560"/>
            <a:ext cx="8381520" cy="1233720"/>
          </a:xfrm>
          <a:prstGeom prst="rect">
            <a:avLst/>
          </a:prstGeom>
          <a:ln w="0">
            <a:noFill/>
          </a:ln>
        </p:spPr>
      </p:pic>
      <p:sp>
        <p:nvSpPr>
          <p:cNvPr id="67" name="Text 1"/>
          <p:cNvSpPr/>
          <p:nvPr/>
        </p:nvSpPr>
        <p:spPr>
          <a:xfrm>
            <a:off x="608040" y="1903320"/>
            <a:ext cx="79275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73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Arial"/>
                <a:ea typeface="Arial"/>
              </a:rPr>
              <a:t>Artificial Intelligence + Geographic Data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608040" y="2364120"/>
            <a:ext cx="792756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91"/>
              </a:lnSpc>
              <a:spcBef>
                <a:spcPts val="901"/>
              </a:spcBef>
              <a:tabLst>
                <a:tab algn="l" pos="0"/>
              </a:tabLst>
            </a:pPr>
            <a:r>
              <a:rPr b="0" lang="en-US" sz="1350" spc="-1" strike="noStrike">
                <a:solidFill>
                  <a:srgbClr val="ffffff"/>
                </a:solidFill>
                <a:latin typeface="Arial"/>
                <a:ea typeface="Arial"/>
              </a:rPr>
              <a:t>Using AI to answer location-specific questions and solve spatial problems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3"/>
          <p:cNvSpPr/>
          <p:nvPr/>
        </p:nvSpPr>
        <p:spPr>
          <a:xfrm>
            <a:off x="380880" y="3425040"/>
            <a:ext cx="2692080" cy="765360"/>
          </a:xfrm>
          <a:prstGeom prst="roundRect">
            <a:avLst>
              <a:gd name="adj" fmla="val 59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Shape 4"/>
          <p:cNvSpPr/>
          <p:nvPr/>
        </p:nvSpPr>
        <p:spPr>
          <a:xfrm>
            <a:off x="380880" y="3439080"/>
            <a:ext cx="2692440" cy="360"/>
          </a:xfrm>
          <a:prstGeom prst="line">
            <a:avLst/>
          </a:prstGeom>
          <a:ln w="28575">
            <a:solidFill>
              <a:srgbClr val="c85a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5"/>
          <p:cNvSpPr/>
          <p:nvPr/>
        </p:nvSpPr>
        <p:spPr>
          <a:xfrm>
            <a:off x="533520" y="3606120"/>
            <a:ext cx="2435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rgbClr val="c85a3c"/>
                </a:solidFill>
                <a:latin typeface="Georgia"/>
                <a:ea typeface="Georgia"/>
              </a:rPr>
              <a:t>Today's Question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6"/>
          <p:cNvSpPr/>
          <p:nvPr/>
        </p:nvSpPr>
        <p:spPr>
          <a:xfrm>
            <a:off x="533520" y="3864960"/>
            <a:ext cx="243504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66"/>
              </a:lnSpc>
              <a:tabLst>
                <a:tab algn="l" pos="0"/>
              </a:tabLst>
            </a:pPr>
            <a:r>
              <a:rPr b="0" i="1" lang="en-US" sz="980" spc="-1" strike="noStrike">
                <a:solidFill>
                  <a:srgbClr val="2a2520"/>
                </a:solidFill>
                <a:latin typeface="Arial"/>
                <a:ea typeface="Arial"/>
              </a:rPr>
              <a:t>"Where is rice most affordable in Ghana?"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7"/>
          <p:cNvSpPr/>
          <p:nvPr/>
        </p:nvSpPr>
        <p:spPr>
          <a:xfrm>
            <a:off x="3225960" y="3338640"/>
            <a:ext cx="2692080" cy="938520"/>
          </a:xfrm>
          <a:prstGeom prst="roundRect">
            <a:avLst>
              <a:gd name="adj" fmla="val 487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Shape 8"/>
          <p:cNvSpPr/>
          <p:nvPr/>
        </p:nvSpPr>
        <p:spPr>
          <a:xfrm>
            <a:off x="3225600" y="3352680"/>
            <a:ext cx="2692440" cy="360"/>
          </a:xfrm>
          <a:prstGeom prst="line">
            <a:avLst/>
          </a:prstGeom>
          <a:ln w="28575">
            <a:solidFill>
              <a:srgbClr val="e8a8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9"/>
          <p:cNvSpPr/>
          <p:nvPr/>
        </p:nvSpPr>
        <p:spPr>
          <a:xfrm>
            <a:off x="3378240" y="3519360"/>
            <a:ext cx="2435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rgbClr val="c85a3c"/>
                </a:solidFill>
                <a:latin typeface="Georgia"/>
                <a:ea typeface="Georgia"/>
              </a:rPr>
              <a:t>Other Examples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0"/>
          <p:cNvSpPr/>
          <p:nvPr/>
        </p:nvSpPr>
        <p:spPr>
          <a:xfrm>
            <a:off x="3378240" y="3778560"/>
            <a:ext cx="24350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66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2a2520"/>
                </a:solidFill>
                <a:latin typeface="Arial"/>
                <a:ea typeface="Arial"/>
              </a:rPr>
              <a:t>Flood risk mapping, crop health monitoring, urban planning, disease outbreak tracking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1"/>
          <p:cNvSpPr/>
          <p:nvPr/>
        </p:nvSpPr>
        <p:spPr>
          <a:xfrm>
            <a:off x="6070680" y="3251880"/>
            <a:ext cx="2692080" cy="1111680"/>
          </a:xfrm>
          <a:prstGeom prst="roundRect">
            <a:avLst>
              <a:gd name="adj" fmla="val 4111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Shape 12"/>
          <p:cNvSpPr/>
          <p:nvPr/>
        </p:nvSpPr>
        <p:spPr>
          <a:xfrm>
            <a:off x="6070680" y="3265920"/>
            <a:ext cx="2692440" cy="360"/>
          </a:xfrm>
          <a:prstGeom prst="line">
            <a:avLst/>
          </a:prstGeom>
          <a:ln w="28575">
            <a:solidFill>
              <a:srgbClr val="2c6e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3"/>
          <p:cNvSpPr/>
          <p:nvPr/>
        </p:nvSpPr>
        <p:spPr>
          <a:xfrm>
            <a:off x="6222960" y="3432960"/>
            <a:ext cx="2435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rgbClr val="c85a3c"/>
                </a:solidFill>
                <a:latin typeface="Georgia"/>
                <a:ea typeface="Georgia"/>
              </a:rPr>
              <a:t>Key Insight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14"/>
          <p:cNvSpPr/>
          <p:nvPr/>
        </p:nvSpPr>
        <p:spPr>
          <a:xfrm>
            <a:off x="6222960" y="3691800"/>
            <a:ext cx="243504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66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2a2520"/>
                </a:solidFill>
                <a:latin typeface="Arial"/>
                <a:ea typeface="Arial"/>
              </a:rPr>
              <a:t>Location matters. GeoAI helps us understand patterns that vary across space.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15"/>
          <p:cNvSpPr/>
          <p:nvPr/>
        </p:nvSpPr>
        <p:spPr>
          <a:xfrm>
            <a:off x="380880" y="4781520"/>
            <a:ext cx="854928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b5f52"/>
                </a:solidFill>
                <a:latin typeface="Arial"/>
                <a:ea typeface="Arial"/>
              </a:rPr>
              <a:t>GeoAI combines spatial analysis, data science, and artificial intelligence.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285840" y="228600"/>
            <a:ext cx="43812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149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3150" spc="-1" strike="noStrike">
                <a:solidFill>
                  <a:srgbClr val="c85a3c"/>
                </a:solidFill>
                <a:latin typeface="Georgia"/>
                <a:ea typeface="Georgia"/>
              </a:rPr>
              <a:t>Today's Roadmap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1"/>
          <p:cNvSpPr/>
          <p:nvPr/>
        </p:nvSpPr>
        <p:spPr>
          <a:xfrm>
            <a:off x="285840" y="704880"/>
            <a:ext cx="87436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81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US" sz="1200" spc="-1" strike="noStrike">
                <a:solidFill>
                  <a:srgbClr val="6b5f52"/>
                </a:solidFill>
                <a:latin typeface="Arial"/>
                <a:ea typeface="Arial"/>
              </a:rPr>
              <a:t>2-Hour Journey from Data to Insights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2"/>
          <p:cNvSpPr/>
          <p:nvPr/>
        </p:nvSpPr>
        <p:spPr>
          <a:xfrm>
            <a:off x="380880" y="1299240"/>
            <a:ext cx="758520" cy="287280"/>
          </a:xfrm>
          <a:prstGeom prst="roundRect">
            <a:avLst>
              <a:gd name="adj" fmla="val 15901"/>
            </a:avLst>
          </a:prstGeom>
          <a:solidFill>
            <a:srgbClr val="c85a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" name="Text 3"/>
          <p:cNvSpPr/>
          <p:nvPr/>
        </p:nvSpPr>
        <p:spPr>
          <a:xfrm>
            <a:off x="495360" y="1356120"/>
            <a:ext cx="54036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66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ffffff"/>
                </a:solidFill>
                <a:latin typeface="Arial"/>
                <a:ea typeface="Arial"/>
              </a:rPr>
              <a:t>0–30 min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4"/>
          <p:cNvSpPr/>
          <p:nvPr/>
        </p:nvSpPr>
        <p:spPr>
          <a:xfrm>
            <a:off x="1292040" y="1299240"/>
            <a:ext cx="7470360" cy="639720"/>
          </a:xfrm>
          <a:prstGeom prst="roundRect">
            <a:avLst>
              <a:gd name="adj" fmla="val 7144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7" name="Shape 5"/>
          <p:cNvSpPr/>
          <p:nvPr/>
        </p:nvSpPr>
        <p:spPr>
          <a:xfrm>
            <a:off x="1306080" y="1298880"/>
            <a:ext cx="360" cy="640080"/>
          </a:xfrm>
          <a:prstGeom prst="line">
            <a:avLst/>
          </a:prstGeom>
          <a:ln w="28575">
            <a:solidFill>
              <a:srgbClr val="c85a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6"/>
          <p:cNvSpPr/>
          <p:nvPr/>
        </p:nvSpPr>
        <p:spPr>
          <a:xfrm>
            <a:off x="1473120" y="1413360"/>
            <a:ext cx="72799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76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2a2520"/>
                </a:solidFill>
                <a:latin typeface="Arial"/>
                <a:ea typeface="Arial"/>
              </a:rPr>
              <a:t>Introduction and Data Loading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7"/>
          <p:cNvSpPr/>
          <p:nvPr/>
        </p:nvSpPr>
        <p:spPr>
          <a:xfrm>
            <a:off x="1473120" y="1651680"/>
            <a:ext cx="727992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66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US" sz="980" spc="-1" strike="noStrike">
                <a:solidFill>
                  <a:srgbClr val="6b5f52"/>
                </a:solidFill>
                <a:latin typeface="Arial"/>
                <a:ea typeface="Arial"/>
              </a:rPr>
              <a:t>Context, WFP background, load and explore datasets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8"/>
          <p:cNvSpPr/>
          <p:nvPr/>
        </p:nvSpPr>
        <p:spPr>
          <a:xfrm>
            <a:off x="380880" y="2034360"/>
            <a:ext cx="827280" cy="287280"/>
          </a:xfrm>
          <a:prstGeom prst="roundRect">
            <a:avLst>
              <a:gd name="adj" fmla="val 15901"/>
            </a:avLst>
          </a:prstGeom>
          <a:solidFill>
            <a:srgbClr val="e8a8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" name="Text 9"/>
          <p:cNvSpPr/>
          <p:nvPr/>
        </p:nvSpPr>
        <p:spPr>
          <a:xfrm>
            <a:off x="495360" y="2091600"/>
            <a:ext cx="61056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66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2c2416"/>
                </a:solidFill>
                <a:latin typeface="Arial"/>
                <a:ea typeface="Arial"/>
              </a:rPr>
              <a:t>30–80 min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10"/>
          <p:cNvSpPr/>
          <p:nvPr/>
        </p:nvSpPr>
        <p:spPr>
          <a:xfrm>
            <a:off x="1360800" y="2034360"/>
            <a:ext cx="7401600" cy="639720"/>
          </a:xfrm>
          <a:prstGeom prst="roundRect">
            <a:avLst>
              <a:gd name="adj" fmla="val 7144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Shape 11"/>
          <p:cNvSpPr/>
          <p:nvPr/>
        </p:nvSpPr>
        <p:spPr>
          <a:xfrm>
            <a:off x="1374840" y="2034000"/>
            <a:ext cx="360" cy="640080"/>
          </a:xfrm>
          <a:prstGeom prst="line">
            <a:avLst/>
          </a:prstGeom>
          <a:ln w="28575">
            <a:solidFill>
              <a:srgbClr val="e8a8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12"/>
          <p:cNvSpPr/>
          <p:nvPr/>
        </p:nvSpPr>
        <p:spPr>
          <a:xfrm>
            <a:off x="1541880" y="2148480"/>
            <a:ext cx="72097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76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2a2520"/>
                </a:solidFill>
                <a:latin typeface="Arial"/>
                <a:ea typeface="Arial"/>
              </a:rPr>
              <a:t>Spatial Analysis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3"/>
          <p:cNvSpPr/>
          <p:nvPr/>
        </p:nvSpPr>
        <p:spPr>
          <a:xfrm>
            <a:off x="1541880" y="2386800"/>
            <a:ext cx="720972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66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US" sz="980" spc="-1" strike="noStrike">
                <a:solidFill>
                  <a:srgbClr val="6b5f52"/>
                </a:solidFill>
                <a:latin typeface="Arial"/>
                <a:ea typeface="Arial"/>
              </a:rPr>
              <a:t>Regional and district mapping, data gaps, choropleth creation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4"/>
          <p:cNvSpPr/>
          <p:nvPr/>
        </p:nvSpPr>
        <p:spPr>
          <a:xfrm>
            <a:off x="380880" y="2769480"/>
            <a:ext cx="896040" cy="287280"/>
          </a:xfrm>
          <a:prstGeom prst="roundRect">
            <a:avLst>
              <a:gd name="adj" fmla="val 15901"/>
            </a:avLst>
          </a:prstGeom>
          <a:solidFill>
            <a:srgbClr val="2c6e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Text 15"/>
          <p:cNvSpPr/>
          <p:nvPr/>
        </p:nvSpPr>
        <p:spPr>
          <a:xfrm>
            <a:off x="495360" y="2826720"/>
            <a:ext cx="68076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66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ffffff"/>
                </a:solidFill>
                <a:latin typeface="Arial"/>
                <a:ea typeface="Arial"/>
              </a:rPr>
              <a:t>80–120 min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6"/>
          <p:cNvSpPr/>
          <p:nvPr/>
        </p:nvSpPr>
        <p:spPr>
          <a:xfrm>
            <a:off x="1429920" y="2769480"/>
            <a:ext cx="7332840" cy="639720"/>
          </a:xfrm>
          <a:prstGeom prst="roundRect">
            <a:avLst>
              <a:gd name="adj" fmla="val 7144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" name="Shape 17"/>
          <p:cNvSpPr/>
          <p:nvPr/>
        </p:nvSpPr>
        <p:spPr>
          <a:xfrm>
            <a:off x="1443960" y="2769480"/>
            <a:ext cx="360" cy="639720"/>
          </a:xfrm>
          <a:prstGeom prst="line">
            <a:avLst/>
          </a:prstGeom>
          <a:ln w="28575">
            <a:solidFill>
              <a:srgbClr val="2c6e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18"/>
          <p:cNvSpPr/>
          <p:nvPr/>
        </p:nvSpPr>
        <p:spPr>
          <a:xfrm>
            <a:off x="1610640" y="2883960"/>
            <a:ext cx="71395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76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2a2520"/>
                </a:solidFill>
                <a:latin typeface="Arial"/>
                <a:ea typeface="Arial"/>
              </a:rPr>
              <a:t>LLM Interface and Discussion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19"/>
          <p:cNvSpPr/>
          <p:nvPr/>
        </p:nvSpPr>
        <p:spPr>
          <a:xfrm>
            <a:off x="1610640" y="3121920"/>
            <a:ext cx="713952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66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US" sz="980" spc="-1" strike="noStrike">
                <a:solidFill>
                  <a:srgbClr val="6b5f52"/>
                </a:solidFill>
                <a:latin typeface="Arial"/>
                <a:ea typeface="Arial"/>
              </a:rPr>
              <a:t>Build Gradio app, test queries, reflect on applications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20"/>
          <p:cNvSpPr/>
          <p:nvPr/>
        </p:nvSpPr>
        <p:spPr>
          <a:xfrm>
            <a:off x="380880" y="4781520"/>
            <a:ext cx="854928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b5f52"/>
                </a:solidFill>
                <a:latin typeface="Arial"/>
                <a:ea typeface="Arial"/>
              </a:rPr>
              <a:t>Feel free to ask questions at any point during the session.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285840" y="228600"/>
            <a:ext cx="54208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149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3150" spc="-1" strike="noStrike">
                <a:solidFill>
                  <a:srgbClr val="c85a3c"/>
                </a:solidFill>
                <a:latin typeface="Georgia"/>
                <a:ea typeface="Georgia"/>
              </a:rPr>
              <a:t>Key Takeaways and Next Steps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380880" y="1047600"/>
            <a:ext cx="8381520" cy="1011240"/>
          </a:xfrm>
          <a:prstGeom prst="roundRect">
            <a:avLst>
              <a:gd name="adj" fmla="val 4519"/>
            </a:avLst>
          </a:prstGeom>
          <a:solidFill>
            <a:srgbClr val="c85a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571680" y="1200240"/>
            <a:ext cx="40899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67"/>
              </a:lnSpc>
              <a:spcAft>
                <a:spcPts val="75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Georgia"/>
                <a:ea typeface="Georgia"/>
              </a:rPr>
              <a:t>What We Accomplished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3"/>
          <p:cNvSpPr/>
          <p:nvPr/>
        </p:nvSpPr>
        <p:spPr>
          <a:xfrm>
            <a:off x="571680" y="1506960"/>
            <a:ext cx="81608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76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Arial"/>
                <a:ea typeface="Arial"/>
              </a:rPr>
              <a:t>Turned WFP market data into spatial maps, identified affordability patterns across Ghana, built a natural language interface, and understood the role of data gaps in decision-making.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4"/>
          <p:cNvSpPr/>
          <p:nvPr/>
        </p:nvSpPr>
        <p:spPr>
          <a:xfrm>
            <a:off x="380880" y="2402280"/>
            <a:ext cx="4095360" cy="2129400"/>
          </a:xfrm>
          <a:prstGeom prst="roundRect">
            <a:avLst>
              <a:gd name="adj" fmla="val 2147"/>
            </a:avLst>
          </a:prstGeom>
          <a:solidFill>
            <a:srgbClr val="ffffff"/>
          </a:solidFill>
          <a:ln w="9525">
            <a:solidFill>
              <a:srgbClr val="d4ca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542880" y="2564280"/>
            <a:ext cx="384696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21"/>
              </a:lnSpc>
              <a:spcAft>
                <a:spcPts val="901"/>
              </a:spcAft>
              <a:tabLst>
                <a:tab algn="l" pos="0"/>
              </a:tabLst>
            </a:pPr>
            <a:r>
              <a:rPr b="1" lang="en-US" sz="1350" spc="-1" strike="noStrike">
                <a:solidFill>
                  <a:srgbClr val="e8a847"/>
                </a:solidFill>
                <a:latin typeface="Georgia"/>
                <a:ea typeface="Georgia"/>
              </a:rPr>
              <a:t>Ideas for Extension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6"/>
          <p:cNvSpPr/>
          <p:nvPr/>
        </p:nvSpPr>
        <p:spPr>
          <a:xfrm>
            <a:off x="542880" y="2884320"/>
            <a:ext cx="3771720" cy="14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rIns="0" tIns="0" bIns="0" anchor="t">
            <a:noAutofit/>
          </a:bodyPr>
          <a:p>
            <a:pPr marL="95400" indent="-95400" defTabSz="914400">
              <a:lnSpc>
                <a:spcPts val="2100"/>
              </a:lnSpc>
              <a:buClr>
                <a:srgbClr val="2a2520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2a2520"/>
                </a:solidFill>
                <a:latin typeface="Arial"/>
                <a:ea typeface="Arial"/>
              </a:rPr>
              <a:t>Compare local vs imported rice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95400" indent="-95400" defTabSz="914400">
              <a:lnSpc>
                <a:spcPts val="2100"/>
              </a:lnSpc>
              <a:buClr>
                <a:srgbClr val="2a2520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2a2520"/>
                </a:solidFill>
                <a:latin typeface="Arial"/>
                <a:ea typeface="Arial"/>
              </a:rPr>
              <a:t>Add time trends and animation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95400" indent="-95400" defTabSz="914400">
              <a:lnSpc>
                <a:spcPts val="2100"/>
              </a:lnSpc>
              <a:buClr>
                <a:srgbClr val="2a2520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2a2520"/>
                </a:solidFill>
                <a:latin typeface="Arial"/>
                <a:ea typeface="Arial"/>
              </a:rPr>
              <a:t>Include other commodities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95400" indent="-95400" defTabSz="914400">
              <a:lnSpc>
                <a:spcPts val="2100"/>
              </a:lnSpc>
              <a:buClr>
                <a:srgbClr val="2a2520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2a2520"/>
                </a:solidFill>
                <a:latin typeface="Arial"/>
                <a:ea typeface="Arial"/>
              </a:rPr>
              <a:t>Combine with population data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marL="95400" indent="-95400" defTabSz="914400">
              <a:lnSpc>
                <a:spcPts val="2100"/>
              </a:lnSpc>
              <a:buClr>
                <a:srgbClr val="2a2520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2a2520"/>
                </a:solidFill>
                <a:latin typeface="Arial"/>
                <a:ea typeface="Arial"/>
              </a:rPr>
              <a:t>Deploy Gradio app publicly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7"/>
          <p:cNvSpPr/>
          <p:nvPr/>
        </p:nvSpPr>
        <p:spPr>
          <a:xfrm>
            <a:off x="4667400" y="2521440"/>
            <a:ext cx="4095360" cy="1891080"/>
          </a:xfrm>
          <a:prstGeom prst="roundRect">
            <a:avLst>
              <a:gd name="adj" fmla="val 2417"/>
            </a:avLst>
          </a:prstGeom>
          <a:solidFill>
            <a:srgbClr val="ede8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1" name="Text 8"/>
          <p:cNvSpPr/>
          <p:nvPr/>
        </p:nvSpPr>
        <p:spPr>
          <a:xfrm>
            <a:off x="4819680" y="2673720"/>
            <a:ext cx="386640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21"/>
              </a:lnSpc>
              <a:spcAft>
                <a:spcPts val="901"/>
              </a:spcAft>
              <a:tabLst>
                <a:tab algn="l" pos="0"/>
              </a:tabLst>
            </a:pPr>
            <a:r>
              <a:rPr b="1" lang="en-US" sz="1350" spc="-1" strike="noStrike">
                <a:solidFill>
                  <a:srgbClr val="2c6e6a"/>
                </a:solidFill>
                <a:latin typeface="Georgia"/>
                <a:ea typeface="Georgia"/>
              </a:rPr>
              <a:t>Resources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9"/>
          <p:cNvSpPr/>
          <p:nvPr/>
        </p:nvSpPr>
        <p:spPr>
          <a:xfrm>
            <a:off x="4819680" y="2993760"/>
            <a:ext cx="386640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63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980" spc="-1" strike="noStrike">
                <a:solidFill>
                  <a:srgbClr val="2a2520"/>
                </a:solidFill>
                <a:latin typeface="Arial"/>
                <a:ea typeface="Arial"/>
              </a:rPr>
              <a:t>GitHub Repository: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63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980" spc="-1" strike="noStrike">
                <a:solidFill>
                  <a:srgbClr val="2a2520"/>
                </a:solidFill>
                <a:latin typeface="Arial"/>
                <a:ea typeface="Arial"/>
              </a:rPr>
              <a:t> </a:t>
            </a:r>
            <a:r>
              <a:rPr b="0" lang="en-US" sz="980" spc="-1" strike="noStrike">
                <a:solidFill>
                  <a:srgbClr val="2a2520"/>
                </a:solidFill>
                <a:latin typeface="Arial"/>
                <a:ea typeface="Arial"/>
              </a:rPr>
              <a:t>Workshop materials, notebooks, and data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0"/>
          <p:cNvSpPr/>
          <p:nvPr/>
        </p:nvSpPr>
        <p:spPr>
          <a:xfrm>
            <a:off x="4819680" y="3441600"/>
            <a:ext cx="386640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63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980" spc="-1" strike="noStrike">
                <a:solidFill>
                  <a:srgbClr val="2a2520"/>
                </a:solidFill>
                <a:latin typeface="Arial"/>
                <a:ea typeface="Arial"/>
              </a:rPr>
              <a:t>Data Sources: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63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980" spc="-1" strike="noStrike">
                <a:solidFill>
                  <a:srgbClr val="2a2520"/>
                </a:solidFill>
                <a:latin typeface="Arial"/>
                <a:ea typeface="Arial"/>
              </a:rPr>
              <a:t> </a:t>
            </a:r>
            <a:r>
              <a:rPr b="0" lang="en-US" sz="980" spc="-1" strike="noStrike">
                <a:solidFill>
                  <a:srgbClr val="2a2520"/>
                </a:solidFill>
                <a:latin typeface="Arial"/>
                <a:ea typeface="Arial"/>
              </a:rPr>
              <a:t>HDX, GeoBoundaries, WFP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11"/>
          <p:cNvSpPr/>
          <p:nvPr/>
        </p:nvSpPr>
        <p:spPr>
          <a:xfrm>
            <a:off x="4819680" y="3889080"/>
            <a:ext cx="386640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63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2a2520"/>
                </a:solidFill>
                <a:latin typeface="Arial"/>
                <a:ea typeface="Arial"/>
              </a:rPr>
              <a:t>Contact: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63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2a2520"/>
                </a:solidFill>
                <a:latin typeface="Arial"/>
                <a:ea typeface="Arial"/>
              </a:rPr>
              <a:t> </a:t>
            </a:r>
            <a:r>
              <a:rPr b="0" lang="en-US" sz="980" spc="-1" strike="noStrike">
                <a:solidFill>
                  <a:srgbClr val="2a2520"/>
                </a:solidFill>
                <a:latin typeface="Arial"/>
                <a:ea typeface="Arial"/>
              </a:rPr>
              <a:t>Chantelle Amoako-Atta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12"/>
          <p:cNvSpPr/>
          <p:nvPr/>
        </p:nvSpPr>
        <p:spPr>
          <a:xfrm>
            <a:off x="380880" y="4781520"/>
            <a:ext cx="854928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b5f52"/>
                </a:solidFill>
                <a:latin typeface="Arial"/>
                <a:ea typeface="Arial"/>
              </a:rPr>
              <a:t>Thank you for participating! Your feedback and ideas will help improve this workshop.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2025-12-29T11:59:39Z</dcterms:created>
  <dc:creator>Chantelle Amoako-Atta</dc:creator>
  <dc:description/>
  <dc:language>en-US</dc:language>
  <cp:lastModifiedBy/>
  <dcterms:modified xsi:type="dcterms:W3CDTF">2025-12-29T12:07:59Z</dcterms:modified>
  <cp:revision>2</cp:revision>
  <dc:subject>GAIN Monthly Dialogue Session - March 2026</dc:subject>
  <dc:title>Mapping Rice Affordability in Ghana Using GeoAI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